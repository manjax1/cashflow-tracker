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3650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Cashflow Tracker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58368" y="2331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8B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AI-Native Personal FinTech Platform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58368" y="2880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B7B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 reasoning understands the question — deterministic tools guarantee the numbers.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79476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2E2E2A"/>
          </a:solidFill>
          <a:ln w="12700">
            <a:solidFill>
              <a:srgbClr val="4A4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79476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E4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Plaid · Gmail · Amazon · Costco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01568" y="379476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2E2E2A"/>
          </a:solidFill>
          <a:ln w="12700">
            <a:solidFill>
              <a:srgbClr val="4A4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401568" y="379476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E4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Hand-rolled agent (Claude)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63056" y="379476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2E2E2A"/>
          </a:solidFill>
          <a:ln w="12700">
            <a:solidFill>
              <a:srgbClr val="4A4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163056" y="379476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E4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 multi-user web app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924544" y="379476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2E2E2A"/>
          </a:solidFill>
          <a:ln w="12700">
            <a:solidFill>
              <a:srgbClr val="4A4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924544" y="379476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E4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Railway + custom domain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98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Manjunath Bangalore   ·   github.com/manjax1/cashflow-tracker   ·   live: cashflow.tikitansy.com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shflow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— How It Works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02920" y="1188720"/>
            <a:ext cx="7589520" cy="5394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b="1" dirty="0">
                <a:solidFill>
                  <a:srgbClr val="333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Two-layer separation. </a:t>
            </a:r>
            <a:r>
              <a:rPr lang="en-US" sz="1350" dirty="0">
                <a:solidFill>
                  <a:srgbClr val="333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reasons and plans; deterministic Python does every calculation. The model is never trusted with arithmetic — eliminating a whole class of hallucinated-number errors.</a:t>
            </a:r>
            <a:endParaRPr lang="en-US" sz="13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b="1" dirty="0">
                <a:solidFill>
                  <a:srgbClr val="333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Hand-rolled agent loop. </a:t>
            </a:r>
            <a:r>
              <a:rPr lang="en-US" sz="1350" dirty="0">
                <a:solidFill>
                  <a:srgbClr val="333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raw tool-calling loop over the Messages API, deliberately without an orchestration framework, so the control flow stays transparent and debuggable.</a:t>
            </a:r>
            <a:endParaRPr lang="en-US" sz="13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b="1" dirty="0">
                <a:solidFill>
                  <a:srgbClr val="333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extraction. </a:t>
            </a:r>
            <a:r>
              <a:rPr lang="en-US" sz="1350" dirty="0">
                <a:solidFill>
                  <a:srgbClr val="333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 tool-use turns invoices and receipts into typed JSON; an LLM-as-classifier maps items to a fixed taxonomy, cached for cost control.</a:t>
            </a:r>
            <a:endParaRPr lang="en-US" sz="13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b="1" dirty="0">
                <a:solidFill>
                  <a:srgbClr val="333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Human-in-the-loop. </a:t>
            </a:r>
            <a:r>
              <a:rPr lang="en-US" sz="1350" dirty="0">
                <a:solidFill>
                  <a:srgbClr val="333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state change is proposed → approved → executed, with a JSONL audit trail and automatic backups. Safety is enforced in code, not in the prompt.</a:t>
            </a:r>
            <a:endParaRPr lang="en-US" sz="13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b="1" dirty="0">
                <a:solidFill>
                  <a:srgbClr val="333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ingestion + splits. </a:t>
            </a:r>
            <a:r>
              <a:rPr lang="en-US" sz="1350" dirty="0">
                <a:solidFill>
                  <a:srgbClr val="333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Plaid, Gmail, data exports and receipt PDFs normalize into one ledger; a non-destructive Splits overlay adds item-level attribution with a proven no-double-count invariant.</a:t>
            </a:r>
            <a:endParaRPr lang="en-US" sz="13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b="1" dirty="0">
                <a:solidFill>
                  <a:srgbClr val="333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deployment. </a:t>
            </a:r>
            <a:r>
              <a:rPr lang="en-US" sz="1350" dirty="0">
                <a:solidFill>
                  <a:srgbClr val="333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2FA Flask app on Railway behind a custom domain, self-refreshing from Google Drive; GitHub source; a scheduled daily job keeps data fresh.</a:t>
            </a:r>
            <a:endParaRPr lang="en-US" sz="13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b="1" dirty="0">
                <a:solidFill>
                  <a:srgbClr val="333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interoperability. </a:t>
            </a:r>
            <a:r>
              <a:rPr lang="en-US" sz="1350" dirty="0">
                <a:solidFill>
                  <a:srgbClr val="333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the whole agent as an MCP server so any AI client can query the ledger through a standard protocol.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8366760" y="1188720"/>
            <a:ext cx="3337560" cy="5074920"/>
          </a:xfrm>
          <a:prstGeom prst="roundRect">
            <a:avLst>
              <a:gd name="adj" fmla="val 2192"/>
            </a:avLst>
          </a:prstGeom>
          <a:solidFill>
            <a:srgbClr val="F7F5F1"/>
          </a:solidFill>
          <a:ln w="12700">
            <a:solidFill>
              <a:srgbClr val="D9D6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595360" y="13716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20" dirty="0">
                <a:solidFill>
                  <a:srgbClr val="C964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DEEP-DIVE REFERENCES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595360" y="182880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design pattern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595360" y="204825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— Building Effective Agents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595360" y="228600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F5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anthropic.com/research/building-effective-agents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595360" y="269748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 &amp; structured outputs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595360" y="291693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Developer Docs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595360" y="315468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F5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docs.anthropic.com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95360" y="356616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Interoperability (roadmap)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95360" y="378561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595360" y="402336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F5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modelcontextprotocol.io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595360" y="443484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&amp; card data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95360" y="465429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Plaid API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595360" y="489204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F5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plaid.com/docs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595360" y="530352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ingestion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595360" y="552297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API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595360" y="576072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F5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developers.google.com/gmail/api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&amp; Roadmap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75488" y="93268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hand-rolled agent to an MCP-exposed platform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3A7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3502152" cy="1783080"/>
          </a:xfrm>
          <a:prstGeom prst="roundRect">
            <a:avLst>
              <a:gd name="adj" fmla="val 4103"/>
            </a:avLst>
          </a:prstGeom>
          <a:solidFill>
            <a:srgbClr val="F2F6F3"/>
          </a:solidFill>
          <a:ln w="19050">
            <a:solidFill>
              <a:srgbClr val="3A7D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21792" y="1920240"/>
            <a:ext cx="384048" cy="384048"/>
          </a:xfrm>
          <a:prstGeom prst="ellipse">
            <a:avLst/>
          </a:prstGeom>
          <a:solidFill>
            <a:srgbClr val="3A7D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21792" y="19202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15568" y="19385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v1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395728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Hand-rolled tool-calling loop over the ledger; deterministic data tools; human-in-the-loop approval gate; CLI.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944368" y="1911096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3A7D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944368" y="1911096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187952" y="1737360"/>
            <a:ext cx="3502152" cy="1783080"/>
          </a:xfrm>
          <a:prstGeom prst="roundRect">
            <a:avLst>
              <a:gd name="adj" fmla="val 4103"/>
            </a:avLst>
          </a:prstGeom>
          <a:solidFill>
            <a:srgbClr val="F2F6F3"/>
          </a:solidFill>
          <a:ln w="19050">
            <a:solidFill>
              <a:srgbClr val="3A7D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352544" y="1920240"/>
            <a:ext cx="384048" cy="384048"/>
          </a:xfrm>
          <a:prstGeom prst="ellipse">
            <a:avLst/>
          </a:prstGeom>
          <a:solidFill>
            <a:srgbClr val="3A7D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352544" y="19202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846320" y="19385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Platform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370832" y="2395728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+ dashboard + search; 2FA multi-user; deployed on Railway with a custom domain, self-syncing from Google Drive.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675120" y="1911096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3A7D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675120" y="1911096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918704" y="1737360"/>
            <a:ext cx="3502152" cy="1783080"/>
          </a:xfrm>
          <a:prstGeom prst="roundRect">
            <a:avLst>
              <a:gd name="adj" fmla="val 4103"/>
            </a:avLst>
          </a:prstGeom>
          <a:solidFill>
            <a:srgbClr val="F2F6F3"/>
          </a:solidFill>
          <a:ln w="19050">
            <a:solidFill>
              <a:srgbClr val="3A7D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083296" y="1920240"/>
            <a:ext cx="384048" cy="384048"/>
          </a:xfrm>
          <a:prstGeom prst="ellipse">
            <a:avLst/>
          </a:prstGeom>
          <a:solidFill>
            <a:srgbClr val="3A7D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083296" y="19202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577072" y="19385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Intelligence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101584" y="2395728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(data export + Gmail agent) &amp; Costco receipt splits; item-level categories; non-destructive no-double-count overlay.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405872" y="1911096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3A7D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405872" y="1911096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3794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C964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ROADMAP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350215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9050">
            <a:solidFill>
              <a:srgbClr val="C964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21792" y="4343400"/>
            <a:ext cx="384048" cy="384048"/>
          </a:xfrm>
          <a:prstGeom prst="ellipse">
            <a:avLst/>
          </a:prstGeom>
          <a:solidFill>
            <a:srgbClr val="C964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21792" y="43434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115568" y="43616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40080" y="4818888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harness built from real family question logs; LLM-as-judge; guard against prompt &amp; model drift.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2944368" y="4334256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C964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2944368" y="4334256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187952" y="4160520"/>
            <a:ext cx="350215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9050">
            <a:solidFill>
              <a:srgbClr val="8A6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352544" y="4343400"/>
            <a:ext cx="384048" cy="384048"/>
          </a:xfrm>
          <a:prstGeom prst="ellipse">
            <a:avLst/>
          </a:prstGeom>
          <a:solidFill>
            <a:srgbClr val="8A6A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352544" y="43434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4846320" y="43616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4370832" y="4818888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the Cashflow agent as a Model Context Protocol server — usable by Claude Desktop and any MCP client.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675120" y="4334256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8A6A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675120" y="4334256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918704" y="4160520"/>
            <a:ext cx="350215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9050">
            <a:solidFill>
              <a:srgbClr val="8A6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8083296" y="4343400"/>
            <a:ext cx="384048" cy="384048"/>
          </a:xfrm>
          <a:prstGeom prst="ellipse">
            <a:avLst/>
          </a:prstGeom>
          <a:solidFill>
            <a:srgbClr val="8A6A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8083296" y="43434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8577072" y="43616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+ Multi-Agent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101584" y="4818888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Retrieval-grounded document Q&amp;A (leases, policies); a multi-agent research &amp; analysis pipeline.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10405872" y="4334256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8A6A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10405872" y="4334256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deepened a distinct agentic-AI skill: the agent loop, deployment &amp; auth, document intelligence — next, evaluation and interoperability.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02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Engineering — Techniques &amp; Lessons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2E2620"/>
          </a:solidFill>
          <a:ln w="19050">
            <a:solidFill>
              <a:srgbClr val="C964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E8B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probabilistic layer understands intent; </a:t>
            </a:r>
            <a:r>
              <a:rPr lang="en-US" sz="22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deterministic layer guarantees correctness.”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25146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E8B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TECHNIQUES APPLIED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53035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DED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tool-use loop over the raw API (no framework)</a:t>
            </a:r>
            <a:endParaRPr lang="en-US" sz="140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DED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outputs via forced tool-use</a:t>
            </a:r>
            <a:endParaRPr lang="en-US" sz="140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DED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LLM-as-classifier, constrained to a fixed taxonomy</a:t>
            </a:r>
            <a:endParaRPr lang="en-US" sz="140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DED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/ multimodal extraction (PDF &amp; email)</a:t>
            </a:r>
            <a:endParaRPr lang="en-US" sz="140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DED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guardrails on every mutation</a:t>
            </a:r>
            <a:endParaRPr lang="en-US" sz="140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DED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grounding &amp; behavior tuning</a:t>
            </a:r>
            <a:endParaRPr lang="en-US" sz="140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DED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Caching &amp; token/cost instrumentation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09360" y="25146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LESSONS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309360" y="2971800"/>
            <a:ext cx="53035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DED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probabilistic reasoning from deterministic correctness</a:t>
            </a:r>
            <a:endParaRPr lang="en-US" sz="140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DED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 safety in code, not in prompts</a:t>
            </a:r>
            <a:endParaRPr lang="en-US" sz="140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DED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real failure modes: grounding, over-caution, misinference, silent false-negatives</a:t>
            </a:r>
            <a:endParaRPr lang="en-US" sz="140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DED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tool inputs forgiving so plausible model guesses succeed</a:t>
            </a:r>
            <a:endParaRPr lang="en-US" sz="140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DED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Ship, deploy, and measure — build to learn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633</Words>
  <Application>Microsoft Macintosh PowerPoint</Application>
  <PresentationFormat>Widescreen</PresentationFormat>
  <Paragraphs>82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Manjax Bangalore</cp:lastModifiedBy>
  <cp:revision>1</cp:revision>
  <dcterms:created xsi:type="dcterms:W3CDTF">2026-07-21T17:29:43Z</dcterms:created>
  <dcterms:modified xsi:type="dcterms:W3CDTF">2026-07-21T17:34:57Z</dcterms:modified>
</cp:coreProperties>
</file>